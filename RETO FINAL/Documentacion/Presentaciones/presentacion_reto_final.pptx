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4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Calibri"/>
              </a:defRPr>
            </a:pPr>
            <a:r>
              <a:rPr lang="es-ES" sz="1300" b="0" i="0" u="none" strike="noStrike">
                <a:solidFill>
                  <a:srgbClr val="FFFFFF"/>
                </a:solidFill>
                <a:latin typeface="Calibri"/>
              </a:rPr>
              <a:t>PIB real de Ecuador, 1965-2023</a:t>
            </a:r>
          </a:p>
        </c:rich>
      </c:tx>
      <c:overlay val="0"/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PIB real (miles de millones USD)</c:v>
                </c:pt>
              </c:strCache>
            </c:strRef>
          </c:tx>
          <c:spPr>
            <a:solidFill>
              <a:srgbClr val="F2A93B">
                <a:alpha val="35000"/>
              </a:srgbClr>
            </a:solidFill>
            <a:effectLst/>
          </c:spPr>
          <c:cat>
            <c:strRef>
              <c:f>Sheet1!$A$2:$A$17</c:f>
              <c:strCache>
                <c:ptCount val="16"/>
                <c:pt idx="0">
                  <c:v>1965</c:v>
                </c:pt>
                <c:pt idx="1">
                  <c:v>1970</c:v>
                </c:pt>
                <c:pt idx="2">
                  <c:v>1975</c:v>
                </c:pt>
                <c:pt idx="3">
                  <c:v>1980</c:v>
                </c:pt>
                <c:pt idx="4">
                  <c:v>1985</c:v>
                </c:pt>
                <c:pt idx="5">
                  <c:v>1990</c:v>
                </c:pt>
                <c:pt idx="6">
                  <c:v>1995</c:v>
                </c:pt>
                <c:pt idx="7">
                  <c:v>2000</c:v>
                </c:pt>
                <c:pt idx="8">
                  <c:v>2005</c:v>
                </c:pt>
                <c:pt idx="9">
                  <c:v>2010</c:v>
                </c:pt>
                <c:pt idx="10">
                  <c:v>2015</c:v>
                </c:pt>
                <c:pt idx="11">
                  <c:v>2019</c:v>
                </c:pt>
                <c:pt idx="12">
                  <c:v>2020</c:v>
                </c:pt>
                <c:pt idx="13">
                  <c:v>2021</c:v>
                </c:pt>
                <c:pt idx="14">
                  <c:v>2022</c:v>
                </c:pt>
                <c:pt idx="15">
                  <c:v>2023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11.91</c:v>
                </c:pt>
                <c:pt idx="1">
                  <c:v>14.58</c:v>
                </c:pt>
                <c:pt idx="2">
                  <c:v>22.61</c:v>
                </c:pt>
                <c:pt idx="3">
                  <c:v>27.6</c:v>
                </c:pt>
                <c:pt idx="4">
                  <c:v>33.46</c:v>
                </c:pt>
                <c:pt idx="5">
                  <c:v>40.56</c:v>
                </c:pt>
                <c:pt idx="6">
                  <c:v>46.71</c:v>
                </c:pt>
                <c:pt idx="7">
                  <c:v>52.16</c:v>
                </c:pt>
                <c:pt idx="8">
                  <c:v>66.069999999999993</c:v>
                </c:pt>
                <c:pt idx="9">
                  <c:v>78.73</c:v>
                </c:pt>
                <c:pt idx="10">
                  <c:v>101.07</c:v>
                </c:pt>
                <c:pt idx="11">
                  <c:v>107.66</c:v>
                </c:pt>
                <c:pt idx="12">
                  <c:v>97.7</c:v>
                </c:pt>
                <c:pt idx="13">
                  <c:v>106.91</c:v>
                </c:pt>
                <c:pt idx="14">
                  <c:v>113.18</c:v>
                </c:pt>
                <c:pt idx="15">
                  <c:v>115.43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D65-4D94-8779-70AF453F54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area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FB3CC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FB3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2A3F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9FB3CC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FB3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Calibri"/>
              </a:defRPr>
            </a:pPr>
            <a:r>
              <a:rPr lang="es-EC" sz="1200" b="0" i="0" u="none" strike="noStrike">
                <a:solidFill>
                  <a:srgbClr val="FFFFFF"/>
                </a:solidFill>
                <a:latin typeface="Calibri"/>
              </a:rPr>
              <a:t>VAB por provincia (2023)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VAB 2023 (miles de millones USD)</c:v>
                </c:pt>
              </c:strCache>
            </c:strRef>
          </c:tx>
          <c:spPr>
            <a:solidFill>
              <a:srgbClr val="F2A93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s-EC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GUAYAS</c:v>
                </c:pt>
                <c:pt idx="1">
                  <c:v>PICHINCHA</c:v>
                </c:pt>
                <c:pt idx="2">
                  <c:v>MANABÍ</c:v>
                </c:pt>
                <c:pt idx="3">
                  <c:v>ORELLANA</c:v>
                </c:pt>
                <c:pt idx="4">
                  <c:v>AZUAY</c:v>
                </c:pt>
                <c:pt idx="5">
                  <c:v>EL ORO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35.909999999999997</c:v>
                </c:pt>
                <c:pt idx="1">
                  <c:v>30.31</c:v>
                </c:pt>
                <c:pt idx="2">
                  <c:v>5.9</c:v>
                </c:pt>
                <c:pt idx="3">
                  <c:v>5.82</c:v>
                </c:pt>
                <c:pt idx="4">
                  <c:v>5</c:v>
                </c:pt>
                <c:pt idx="5">
                  <c:v>4.01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F71-48E9-9D2E-74AA5EDCEF3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9FB3CC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FB3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2A3F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9FB3CC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FB3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Calibri"/>
              </a:defRPr>
            </a:pPr>
            <a:r>
              <a:rPr lang="es-ES" sz="1200" b="0" i="0" u="none" strike="noStrike">
                <a:solidFill>
                  <a:srgbClr val="FFFFFF"/>
                </a:solidFill>
                <a:latin typeface="Calibri"/>
              </a:rPr>
              <a:t>Bachilleres 3er año por provincia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Bachilleres 3er año (2023-2024)</c:v>
                </c:pt>
              </c:strCache>
            </c:strRef>
          </c:tx>
          <c:spPr>
            <a:solidFill>
              <a:srgbClr val="6E9BD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s-EC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GUAYAS</c:v>
                </c:pt>
                <c:pt idx="1">
                  <c:v>PICHINCHA</c:v>
                </c:pt>
                <c:pt idx="2">
                  <c:v>MANABÍ</c:v>
                </c:pt>
                <c:pt idx="3">
                  <c:v>LOS RÍOS</c:v>
                </c:pt>
                <c:pt idx="4">
                  <c:v>AZUAY</c:v>
                </c:pt>
                <c:pt idx="5">
                  <c:v>EL ORO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70839</c:v>
                </c:pt>
                <c:pt idx="1">
                  <c:v>51343</c:v>
                </c:pt>
                <c:pt idx="2">
                  <c:v>25854</c:v>
                </c:pt>
                <c:pt idx="3">
                  <c:v>14276</c:v>
                </c:pt>
                <c:pt idx="4">
                  <c:v>12967</c:v>
                </c:pt>
                <c:pt idx="5">
                  <c:v>11013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66C-4FE8-85F9-22D2F5B93F6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9FB3CC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FB3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2A3F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9FB3CC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FB3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67762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1463040"/>
            <a:ext cx="3291840" cy="3291840"/>
          </a:xfrm>
          <a:prstGeom prst="ellipse">
            <a:avLst/>
          </a:prstGeom>
          <a:ln w="12700">
            <a:solidFill>
              <a:srgbClr val="F2A93B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-2286000"/>
            <a:ext cx="4937760" cy="4937760"/>
          </a:xfrm>
          <a:prstGeom prst="ellipse">
            <a:avLst/>
          </a:prstGeom>
          <a:ln w="12700">
            <a:solidFill>
              <a:srgbClr val="F2A93B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411480"/>
            <a:ext cx="9601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41148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UTPL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572768" y="411480"/>
            <a:ext cx="4206240" cy="502920"/>
          </a:xfrm>
          <a:prstGeom prst="rect">
            <a:avLst/>
          </a:prstGeom>
          <a:ln w="9525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91640" y="41148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General de Tecnologías de la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y Transformación Digital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3931920" cy="384048"/>
          </a:xfrm>
          <a:prstGeom prst="roundRect">
            <a:avLst>
              <a:gd name="adj" fmla="val 19048"/>
            </a:avLst>
          </a:prstGeom>
          <a:ln w="12700">
            <a:solidFill>
              <a:srgbClr val="F2A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4173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PRÁCTICUM INTERNO · EXPOSICIÓN FINAL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05740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Tablero Macroentorno Ecuatoriano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548640" y="324612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de 9 fuentes públicas del BCE, MINEDUC y Supercias en un tablero interactivo para apoyar decisiones institucionales de la UTPL.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251960"/>
            <a:ext cx="3429000" cy="914400"/>
          </a:xfrm>
          <a:prstGeom prst="roundRect">
            <a:avLst>
              <a:gd name="adj" fmla="val 6000"/>
            </a:avLst>
          </a:prstGeom>
          <a:solidFill>
            <a:srgbClr val="132A4E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37083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01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463600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FB3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RPA — Automatización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206240" y="4251960"/>
            <a:ext cx="3429000" cy="914400"/>
          </a:xfrm>
          <a:prstGeom prst="roundRect">
            <a:avLst>
              <a:gd name="adj" fmla="val 6000"/>
            </a:avLst>
          </a:prstGeom>
          <a:solidFill>
            <a:srgbClr val="132A4E"/>
          </a:solidFill>
          <a:ln/>
        </p:spPr>
      </p:sp>
      <p:sp>
        <p:nvSpPr>
          <p:cNvPr id="16" name="Text 14"/>
          <p:cNvSpPr/>
          <p:nvPr/>
        </p:nvSpPr>
        <p:spPr>
          <a:xfrm>
            <a:off x="4434840" y="437083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02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434840" y="463600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FB3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Agentes con IA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863840" y="4251960"/>
            <a:ext cx="3429000" cy="914400"/>
          </a:xfrm>
          <a:prstGeom prst="roundRect">
            <a:avLst>
              <a:gd name="adj" fmla="val 6000"/>
            </a:avLst>
          </a:prstGeom>
          <a:solidFill>
            <a:srgbClr val="1B3A63"/>
          </a:solidFill>
          <a:ln w="15875">
            <a:solidFill>
              <a:srgbClr val="F2A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92440" y="437083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092440" y="463600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Ingeniería de Datos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8640" y="5577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Prácticum 1.2 · Exposición final · Julio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1463040"/>
            <a:ext cx="3291840" cy="3291840"/>
          </a:xfrm>
          <a:prstGeom prst="ellipse">
            <a:avLst/>
          </a:prstGeom>
          <a:ln w="12700">
            <a:solidFill>
              <a:srgbClr val="F2A93B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-2286000"/>
            <a:ext cx="4937760" cy="4937760"/>
          </a:xfrm>
          <a:prstGeom prst="ellipse">
            <a:avLst/>
          </a:prstGeom>
          <a:ln w="12700">
            <a:solidFill>
              <a:srgbClr val="F2A93B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Información dispersa, decisiones a ciegas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6309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información macroeconómica y laboral del país estaba repartida en 9 fuentes públicas distintas, sin un tablero institucional que las integrara.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6309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tomar decisiones informadas —sobre presupuesto, oferta académica o alianzas institucionales— la UTPL necesitaba cruzar cifras de PIB, empleo, VAB provincial y bachilleres, publicadas por separado por el BCE, MINEDUC y Supercias, cada una con su propio formato, frecuencia y nivel de detalle.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178040" y="1965960"/>
            <a:ext cx="4480560" cy="1234440"/>
          </a:xfrm>
          <a:prstGeom prst="roundRect">
            <a:avLst>
              <a:gd name="adj" fmla="val 4444"/>
            </a:avLst>
          </a:prstGeom>
          <a:solidFill>
            <a:srgbClr val="132A4E"/>
          </a:solidFill>
          <a:ln/>
        </p:spPr>
      </p:sp>
      <p:sp>
        <p:nvSpPr>
          <p:cNvPr id="9" name="Text 7"/>
          <p:cNvSpPr/>
          <p:nvPr/>
        </p:nvSpPr>
        <p:spPr>
          <a:xfrm>
            <a:off x="7452360" y="2075688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8778240" y="2075688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públicas distintas: BCE, MINEDUC y Supercias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178040" y="3429000"/>
            <a:ext cx="4480560" cy="1234440"/>
          </a:xfrm>
          <a:prstGeom prst="roundRect">
            <a:avLst>
              <a:gd name="adj" fmla="val 4444"/>
            </a:avLst>
          </a:prstGeom>
          <a:solidFill>
            <a:srgbClr val="132A4E"/>
          </a:solidFill>
          <a:ln/>
        </p:spPr>
      </p:sp>
      <p:sp>
        <p:nvSpPr>
          <p:cNvPr id="12" name="Text 10"/>
          <p:cNvSpPr/>
          <p:nvPr/>
        </p:nvSpPr>
        <p:spPr>
          <a:xfrm>
            <a:off x="7452360" y="3538728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8778240" y="3538728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tableros institucionales que las integraran antes de este proyecto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178040" y="4892040"/>
            <a:ext cx="4480560" cy="1234440"/>
          </a:xfrm>
          <a:prstGeom prst="roundRect">
            <a:avLst>
              <a:gd name="adj" fmla="val 4444"/>
            </a:avLst>
          </a:prstGeom>
          <a:solidFill>
            <a:srgbClr val="132A4E"/>
          </a:solidFill>
          <a:ln/>
        </p:spPr>
      </p:sp>
      <p:sp>
        <p:nvSpPr>
          <p:cNvPr id="15" name="Text 13"/>
          <p:cNvSpPr/>
          <p:nvPr/>
        </p:nvSpPr>
        <p:spPr>
          <a:xfrm>
            <a:off x="7452360" y="5001768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8778240" y="5001768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analíticas priorizadas por la universidad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Prácticum 1.2 · Ingeniería de Datos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772400" y="65379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 Macroentorno Ecuatoriano · Ingeniería de Datos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1463040"/>
            <a:ext cx="3291840" cy="3291840"/>
          </a:xfrm>
          <a:prstGeom prst="ellipse">
            <a:avLst/>
          </a:prstGeom>
          <a:ln w="12700">
            <a:solidFill>
              <a:srgbClr val="F2A93B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-2286000"/>
            <a:ext cx="4937760" cy="4937760"/>
          </a:xfrm>
          <a:prstGeom prst="ellipse">
            <a:avLst/>
          </a:prstGeom>
          <a:ln w="12700">
            <a:solidFill>
              <a:srgbClr val="F2A93B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FUENTES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organismos públicos, un solo modelo de datos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29844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fuente aporta una pieza distinta del entorno macroeconómico y laboral del país.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3611880" cy="4160520"/>
          </a:xfrm>
          <a:prstGeom prst="roundRect">
            <a:avLst>
              <a:gd name="adj" fmla="val 2025"/>
            </a:avLst>
          </a:prstGeom>
          <a:solidFill>
            <a:srgbClr val="132A4E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2240280"/>
            <a:ext cx="685800" cy="685800"/>
          </a:xfrm>
          <a:prstGeom prst="ellipse">
            <a:avLst/>
          </a:prstGeom>
          <a:ln w="19050">
            <a:solidFill>
              <a:srgbClr val="F2A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2402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0632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Banco Central del Ecuador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3657600"/>
            <a:ext cx="30632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PIB real (retropolación 1965-2023)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PIB nominal y VAB por provincia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 Expectativas Empresariales (IEE)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del petróleo y riesgo país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43400" y="1965960"/>
            <a:ext cx="3611880" cy="4160520"/>
          </a:xfrm>
          <a:prstGeom prst="roundRect">
            <a:avLst>
              <a:gd name="adj" fmla="val 2025"/>
            </a:avLst>
          </a:prstGeom>
          <a:solidFill>
            <a:srgbClr val="132A4E"/>
          </a:solidFill>
          <a:ln/>
        </p:spPr>
      </p:sp>
      <p:sp>
        <p:nvSpPr>
          <p:cNvPr id="13" name="Shape 11"/>
          <p:cNvSpPr/>
          <p:nvPr/>
        </p:nvSpPr>
        <p:spPr>
          <a:xfrm>
            <a:off x="4617720" y="2240280"/>
            <a:ext cx="685800" cy="685800"/>
          </a:xfrm>
          <a:prstGeom prst="ellipse">
            <a:avLst/>
          </a:prstGeom>
          <a:ln w="19050">
            <a:solidFill>
              <a:srgbClr val="F2A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22402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17720" y="30632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MINEDUC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17720" y="3657600"/>
            <a:ext cx="30632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administrativos 2023-2024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Estudiantes por provincia, cantón y año escolar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Bachilleres de 3er año a nivel nacional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+280 mil graduandos identificados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138160" y="1965960"/>
            <a:ext cx="3611880" cy="4160520"/>
          </a:xfrm>
          <a:prstGeom prst="roundRect">
            <a:avLst>
              <a:gd name="adj" fmla="val 2025"/>
            </a:avLst>
          </a:prstGeom>
          <a:solidFill>
            <a:srgbClr val="132A4E"/>
          </a:solidFill>
          <a:ln/>
        </p:spPr>
      </p:sp>
      <p:sp>
        <p:nvSpPr>
          <p:cNvPr id="18" name="Shape 16"/>
          <p:cNvSpPr/>
          <p:nvPr/>
        </p:nvSpPr>
        <p:spPr>
          <a:xfrm>
            <a:off x="8412480" y="2240280"/>
            <a:ext cx="685800" cy="685800"/>
          </a:xfrm>
          <a:prstGeom prst="ellipse">
            <a:avLst/>
          </a:prstGeom>
          <a:ln w="19050">
            <a:solidFill>
              <a:srgbClr val="F2A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0" y="22402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412480" y="30632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Superintendencia de Compañías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412480" y="3657600"/>
            <a:ext cx="30632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financiero de empresas activas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Empleados y clasificación CIIU por empresa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ROE, ROA y estados financieros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domicilio fiscal (limitación identificada)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Prácticum 1.2 · Ingeniería de Datos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72400" y="65379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 Macroentorno Ecuatoriano · Ingeniería de Datos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1463040"/>
            <a:ext cx="3291840" cy="3291840"/>
          </a:xfrm>
          <a:prstGeom prst="ellipse">
            <a:avLst/>
          </a:prstGeom>
          <a:ln w="12700">
            <a:solidFill>
              <a:srgbClr val="F2A93B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-2286000"/>
            <a:ext cx="4937760" cy="4937760"/>
          </a:xfrm>
          <a:prstGeom prst="ellipse">
            <a:avLst/>
          </a:prstGeom>
          <a:ln w="12700">
            <a:solidFill>
              <a:srgbClr val="F2A93B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LO ABORDAMOS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por capas, de la fuente al tablero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29844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modelo bronze → silver → gold, con Power BI como capa de consumo.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1965960" cy="1554480"/>
          </a:xfrm>
          <a:prstGeom prst="roundRect">
            <a:avLst>
              <a:gd name="adj" fmla="val 4706"/>
            </a:avLst>
          </a:prstGeom>
          <a:solidFill>
            <a:srgbClr val="132A4E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277977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13232" y="3154680"/>
            <a:ext cx="1636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Fuentes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13232" y="3520440"/>
            <a:ext cx="16367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archivos: xlsx, sql, csv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14600" y="3200400"/>
            <a:ext cx="308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823210" y="2651760"/>
            <a:ext cx="1965960" cy="1554480"/>
          </a:xfrm>
          <a:prstGeom prst="roundRect">
            <a:avLst>
              <a:gd name="adj" fmla="val 4706"/>
            </a:avLst>
          </a:prstGeom>
          <a:solidFill>
            <a:srgbClr val="132A4E"/>
          </a:solidFill>
          <a:ln/>
        </p:spPr>
      </p:sp>
      <p:sp>
        <p:nvSpPr>
          <p:cNvPr id="13" name="Text 11"/>
          <p:cNvSpPr/>
          <p:nvPr/>
        </p:nvSpPr>
        <p:spPr>
          <a:xfrm>
            <a:off x="2987802" y="277977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987802" y="3154680"/>
            <a:ext cx="1636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Bronze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2987802" y="3520440"/>
            <a:ext cx="16367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crudos, sin transformar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89170" y="3200400"/>
            <a:ext cx="308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097780" y="2651760"/>
            <a:ext cx="1965960" cy="1554480"/>
          </a:xfrm>
          <a:prstGeom prst="roundRect">
            <a:avLst>
              <a:gd name="adj" fmla="val 4706"/>
            </a:avLst>
          </a:prstGeom>
          <a:solidFill>
            <a:srgbClr val="132A4E"/>
          </a:solidFill>
          <a:ln/>
        </p:spPr>
      </p:sp>
      <p:sp>
        <p:nvSpPr>
          <p:cNvPr id="18" name="Text 16"/>
          <p:cNvSpPr/>
          <p:nvPr/>
        </p:nvSpPr>
        <p:spPr>
          <a:xfrm>
            <a:off x="5262372" y="277977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262372" y="3154680"/>
            <a:ext cx="1636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Silver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262372" y="3520440"/>
            <a:ext cx="16367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 y normalización (Python)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063740" y="3200400"/>
            <a:ext cx="308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372350" y="2651760"/>
            <a:ext cx="1965960" cy="1554480"/>
          </a:xfrm>
          <a:prstGeom prst="roundRect">
            <a:avLst>
              <a:gd name="adj" fmla="val 4706"/>
            </a:avLst>
          </a:prstGeom>
          <a:solidFill>
            <a:srgbClr val="132A4E"/>
          </a:solidFill>
          <a:ln/>
        </p:spPr>
      </p:sp>
      <p:sp>
        <p:nvSpPr>
          <p:cNvPr id="23" name="Text 21"/>
          <p:cNvSpPr/>
          <p:nvPr/>
        </p:nvSpPr>
        <p:spPr>
          <a:xfrm>
            <a:off x="7536942" y="277977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536942" y="3154680"/>
            <a:ext cx="1636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7536942" y="3520440"/>
            <a:ext cx="16367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Vistas agregadas por pregunta (SQLite)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338310" y="3200400"/>
            <a:ext cx="308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9646920" y="2651760"/>
            <a:ext cx="1965960" cy="1554480"/>
          </a:xfrm>
          <a:prstGeom prst="roundRect">
            <a:avLst>
              <a:gd name="adj" fmla="val 4706"/>
            </a:avLst>
          </a:prstGeom>
          <a:solidFill>
            <a:srgbClr val="1B3A63"/>
          </a:solidFill>
          <a:ln w="15875">
            <a:solidFill>
              <a:srgbClr val="F2A9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811512" y="277977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811512" y="3154680"/>
            <a:ext cx="1636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9811512" y="3520440"/>
            <a:ext cx="16367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 interactivo, 3 páginas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" y="461772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132A4E"/>
          </a:solidFill>
          <a:ln/>
        </p:spPr>
      </p:sp>
      <p:sp>
        <p:nvSpPr>
          <p:cNvPr id="32" name="Text 30"/>
          <p:cNvSpPr/>
          <p:nvPr/>
        </p:nvSpPr>
        <p:spPr>
          <a:xfrm>
            <a:off x="868680" y="4828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ORQUESTADO CON PREFECT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68680" y="5193792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7 tareas de limpieza corren en paralelo, con reintentos automáticos ante fallos, monitoreo desde una interfaz web y programación semanal de actualizaciones.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Prácticum 1.2 · Ingeniería de Datos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772400" y="65379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 Macroentorno Ecuatoriano · Ingeniería de Datos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1463040"/>
            <a:ext cx="3291840" cy="3291840"/>
          </a:xfrm>
          <a:prstGeom prst="ellipse">
            <a:avLst/>
          </a:prstGeom>
          <a:ln w="12700">
            <a:solidFill>
              <a:srgbClr val="F2A93B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-2286000"/>
            <a:ext cx="4937760" cy="4937760"/>
          </a:xfrm>
          <a:prstGeom prst="ellipse">
            <a:avLst/>
          </a:prstGeom>
          <a:ln w="12700">
            <a:solidFill>
              <a:srgbClr val="F2A93B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· PÁGINA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¿Cómo ha evolucionado la economía ecuatoriana?</a:t>
            </a:r>
            <a:endParaRPr lang="en-US" sz="28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1965960"/>
          <a:ext cx="68580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7635240" y="1965960"/>
            <a:ext cx="3977640" cy="1234440"/>
          </a:xfrm>
          <a:prstGeom prst="roundRect">
            <a:avLst>
              <a:gd name="adj" fmla="val 4444"/>
            </a:avLst>
          </a:prstGeom>
          <a:solidFill>
            <a:srgbClr val="132A4E"/>
          </a:solidFill>
          <a:ln/>
        </p:spPr>
      </p:sp>
      <p:sp>
        <p:nvSpPr>
          <p:cNvPr id="8" name="Text 5"/>
          <p:cNvSpPr/>
          <p:nvPr/>
        </p:nvSpPr>
        <p:spPr>
          <a:xfrm>
            <a:off x="7863840" y="2075688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$6,472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7863840" y="274320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PIB per cápita real (2023)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635240" y="3401568"/>
            <a:ext cx="3977640" cy="1234440"/>
          </a:xfrm>
          <a:prstGeom prst="roundRect">
            <a:avLst>
              <a:gd name="adj" fmla="val 4444"/>
            </a:avLst>
          </a:prstGeom>
          <a:solidFill>
            <a:srgbClr val="132A4E"/>
          </a:solidFill>
          <a:ln/>
        </p:spPr>
      </p:sp>
      <p:sp>
        <p:nvSpPr>
          <p:cNvPr id="11" name="Text 8"/>
          <p:cNvSpPr/>
          <p:nvPr/>
        </p:nvSpPr>
        <p:spPr>
          <a:xfrm>
            <a:off x="7863840" y="3511296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+1.3%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7863840" y="417880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Variación interanual (2023)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635240" y="4837176"/>
            <a:ext cx="3977640" cy="1234440"/>
          </a:xfrm>
          <a:prstGeom prst="roundRect">
            <a:avLst>
              <a:gd name="adj" fmla="val 4444"/>
            </a:avLst>
          </a:prstGeom>
          <a:solidFill>
            <a:srgbClr val="132A4E"/>
          </a:solidFill>
          <a:ln/>
        </p:spPr>
      </p:sp>
      <p:sp>
        <p:nvSpPr>
          <p:cNvPr id="14" name="Text 11"/>
          <p:cNvSpPr/>
          <p:nvPr/>
        </p:nvSpPr>
        <p:spPr>
          <a:xfrm>
            <a:off x="7863840" y="4946904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Crecimiento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moderado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7863840" y="5614416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del ciclo económico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48640" y="6172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Banco Central del Ecuador · vista gold_pib_tendencia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Prácticum 1.2 · Ingeniería de Datos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772400" y="65379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 Macroentorno Ecuatoriano · Ingeniería de Datos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1463040"/>
            <a:ext cx="3291840" cy="3291840"/>
          </a:xfrm>
          <a:prstGeom prst="ellipse">
            <a:avLst/>
          </a:prstGeom>
          <a:ln w="12700">
            <a:solidFill>
              <a:srgbClr val="F2A93B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-2286000"/>
            <a:ext cx="4937760" cy="4937760"/>
          </a:xfrm>
          <a:prstGeom prst="ellipse">
            <a:avLst/>
          </a:prstGeom>
          <a:ln w="12700">
            <a:solidFill>
              <a:srgbClr val="F2A93B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· PÁGINAS 2 Y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¿Dónde se concentra la economía y el talento?</a:t>
            </a:r>
            <a:endParaRPr lang="en-US" sz="28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1965960"/>
          <a:ext cx="534924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6172200" y="1965960"/>
          <a:ext cx="534924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6080760"/>
            <a:ext cx="11064240" cy="594360"/>
          </a:xfrm>
          <a:prstGeom prst="roundRect">
            <a:avLst>
              <a:gd name="adj" fmla="val 7692"/>
            </a:avLst>
          </a:prstGeom>
          <a:solidFill>
            <a:srgbClr val="132A4E"/>
          </a:solidFill>
          <a:ln/>
        </p:spPr>
      </p:sp>
      <p:sp>
        <p:nvSpPr>
          <p:cNvPr id="9" name="Text 5"/>
          <p:cNvSpPr/>
          <p:nvPr/>
        </p:nvSpPr>
        <p:spPr>
          <a:xfrm>
            <a:off x="777240" y="608076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183 empresas activas registradas en Supercias a nivel nacional, sin domicilio fiscal disponible para desagregarlas por provincia — se recomienda integrar el Directorio de Empresas del INEC.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Prácticum 1.2 · Ingeniería de Datos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7772400" y="65379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 Macroentorno Ecuatoriano · Ingeniería de Datos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1463040"/>
            <a:ext cx="3291840" cy="3291840"/>
          </a:xfrm>
          <a:prstGeom prst="ellipse">
            <a:avLst/>
          </a:prstGeom>
          <a:ln w="12700">
            <a:solidFill>
              <a:srgbClr val="F2A93B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-2286000"/>
            <a:ext cx="4937760" cy="4937760"/>
          </a:xfrm>
          <a:prstGeom prst="ellipse">
            <a:avLst/>
          </a:prstGeom>
          <a:ln w="12700">
            <a:solidFill>
              <a:srgbClr val="F2A93B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CERRAR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 y recomendaciones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5303520" cy="4114800"/>
          </a:xfrm>
          <a:prstGeom prst="roundRect">
            <a:avLst>
              <a:gd name="adj" fmla="val 1778"/>
            </a:avLst>
          </a:prstGeom>
          <a:solidFill>
            <a:srgbClr val="132A4E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3317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logramos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971800"/>
            <a:ext cx="4663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dimensional bronze → silver → gold, documentado y reproducible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tableros interactivos en Power BI, con filtros y segmentaciones por año, provincia y sector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automatizado con Prefect: paralelización, reintentos y monitoreo web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09360" y="2057400"/>
            <a:ext cx="5303520" cy="4114800"/>
          </a:xfrm>
          <a:prstGeom prst="roundRect">
            <a:avLst>
              <a:gd name="adj" fmla="val 1778"/>
            </a:avLst>
          </a:prstGeom>
          <a:solidFill>
            <a:srgbClr val="132A4E"/>
          </a:solidFill>
          <a:ln/>
        </p:spPr>
      </p:sp>
      <p:sp>
        <p:nvSpPr>
          <p:cNvPr id="10" name="Text 8"/>
          <p:cNvSpPr/>
          <p:nvPr/>
        </p:nvSpPr>
        <p:spPr>
          <a:xfrm>
            <a:off x="6629400" y="23317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recomendamos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629400" y="2971800"/>
            <a:ext cx="4663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el Directorio de Empresas del INEC para completar el cruce por provincia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Sumar la tasa de desempleo (ENEMDU) como KPI del tablero de sectores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Migrar la programación automática a un servidor institucional, no a equipos personales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Prácticum 1.2 · Ingeniería de Datos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72400" y="65379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 Macroentorno Ecuatoriano · Ingeniería de Datos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1463040"/>
            <a:ext cx="3291840" cy="3291840"/>
          </a:xfrm>
          <a:prstGeom prst="ellipse">
            <a:avLst/>
          </a:prstGeom>
          <a:ln w="12700">
            <a:solidFill>
              <a:srgbClr val="F2A93B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-2286000"/>
            <a:ext cx="4937760" cy="4937760"/>
          </a:xfrm>
          <a:prstGeom prst="ellipse">
            <a:avLst/>
          </a:prstGeom>
          <a:ln w="12700">
            <a:solidFill>
              <a:srgbClr val="F2A93B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2468880"/>
            <a:ext cx="12188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352044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y comentarios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0" y="603504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David · Prácticum 1.2 · Línea 03, Ingeniería de Datos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688</Words>
  <Application>Microsoft Office PowerPoint</Application>
  <PresentationFormat>Panorámica</PresentationFormat>
  <Paragraphs>117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JUAN DAVID VARGAS MEJIA</cp:lastModifiedBy>
  <cp:revision>2</cp:revision>
  <dcterms:created xsi:type="dcterms:W3CDTF">2026-07-23T11:48:21Z</dcterms:created>
  <dcterms:modified xsi:type="dcterms:W3CDTF">2026-07-23T14:39:43Z</dcterms:modified>
</cp:coreProperties>
</file>